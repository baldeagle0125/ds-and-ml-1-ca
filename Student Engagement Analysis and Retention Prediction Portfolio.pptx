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3" r:id="rId7"/>
    <p:sldId id="259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0"/>
    <p:restoredTop sz="94661"/>
  </p:normalViewPr>
  <p:slideViewPr>
    <p:cSldViewPr snapToGrid="0">
      <p:cViewPr varScale="1">
        <p:scale>
          <a:sx n="85" d="100"/>
          <a:sy n="85" d="100"/>
        </p:scale>
        <p:origin x="20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6754-996E-6D61-188E-F9D30B00C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EB859-BCC1-2432-5F41-F53CB0043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EEE8E-16AE-F429-9B9A-4B5255E2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4DD70-6F04-30DF-B6B4-07A3051B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2AECE-0521-55A5-9637-DF170FCB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3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8349-5AC0-4D0A-9993-489C8957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76C9-D61D-F782-D804-62E1DF8BA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7736E-DFD2-BFF1-4623-E7776D6A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9AA3D-4AD6-4613-769C-9D43DB1A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2CFD6-7A85-AD51-593F-20F52F18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5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EE168-6088-B44B-C4E6-24CB4A13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FBF92-F74B-FBBD-DEE1-3D62337BB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6ED7-5D2B-FE3E-D4FF-B6978500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5509E-C0C3-61D8-44E6-98DB329A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8F288-4C67-3E7E-C49F-0B02A057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0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4C7A-9B12-3ECB-78FE-32784848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79969-3ABC-F6B1-DB4B-384E50C90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D3720-AC52-10AE-3C83-5C844B28B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41A1F-3B1B-A263-FC91-DBF67801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047CD-F6DB-3F8C-FF16-D643EFFF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7E042-543F-D4E1-FEBE-69704444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3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5850-90C4-5352-84C8-5D47B04FF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C921D-FC3E-F970-16B5-52361E056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1399-A46F-3701-3664-F38F5F015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57E7-A4BC-5A2B-2462-56DA79FAC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4316A-92A1-36BB-9B66-27B66FFF9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02633-84DB-A201-77D7-75A3E7D8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2F67E-C908-F6B6-6C3A-79D4D8D5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A2D9C-6DE3-8419-5FAF-D84DE975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3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9D0D-04EE-AFE7-40ED-DF16F218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0EE48-EA8E-EC60-DB3D-A8743051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1A960-CA84-9BF4-C373-45356BF9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EBC2A-B9B8-A18F-06FE-01FA9CC6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6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60305-3970-A9C2-FEEF-1177C130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914CA-23A2-2470-3B39-77A8FF16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42323-0478-06AE-C481-EC2C4F64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6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80D4-47E6-88B1-68BA-15E7FDE9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62504-4FC7-DC89-EC17-76D9797C9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5CBF0-0412-EC00-76B4-634569659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66A09-BE56-2F00-3842-1212AE8EF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F8B04-EF0F-DC0A-35E1-0E166FA4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A0CA2-CC8A-A8A1-3CB2-F28718C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6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2F0C-14F4-D183-349A-54E6C806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C59F6-5A4F-87DD-1E72-F003CD9C0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1977F-E83A-7D0A-6C84-513CBC3A6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4CFE6-D33C-9A10-F209-D2F8B5A3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534F4-BB69-19EA-99FB-F679F160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5914E-19A6-7F09-462D-BEAC7DD6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7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72F1-8BA3-458E-E84A-AEAE1E25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9F20D-929F-D7DF-7BBC-39AA03A37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2A913-2B53-395A-F4B3-336E34D5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CDFE0-9792-94FF-6BCA-91665F60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41BBF-64B3-578C-688C-DC6F4705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94B74E-08AA-25E8-4BBD-00092BF32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20223-55A5-1E74-FE49-742652F9F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042A-608F-A9B9-C982-D621779A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17B3A-2E93-0B3A-BFFC-EE6C588C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1281-A918-3CB0-D30F-BCB475F8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9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3E4C2-AD4A-6713-82BB-60702128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82561-4900-4F33-53DD-0B69F63AD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7B92C-9AF4-19EF-7368-610F98918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8A4A8-4142-0648-99A9-95D3C2C8FC1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1B8E8-216D-F4B1-5A16-9D90EE2AA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6003-5E3B-04D9-B23C-F00E2D0F9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B113F-3304-404A-96AE-83B913A59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6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6096-ABA0-2CC2-B5F5-744F30953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Student Engagement Analysis and Retention Prediction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19A8E-B02E-287B-B640-8EF6B0F49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</a:t>
            </a:r>
            <a:r>
              <a:rPr lang="en-US" i="1" dirty="0"/>
              <a:t>Ihor Melashchenko (C00290950), Software Development, Year 4</a:t>
            </a:r>
          </a:p>
        </p:txBody>
      </p:sp>
    </p:spTree>
    <p:extLst>
      <p:ext uri="{BB962C8B-B14F-4D97-AF65-F5344CB8AC3E}">
        <p14:creationId xmlns:p14="http://schemas.microsoft.com/office/powerpoint/2010/main" val="68286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05A5-F558-6D1C-3FBD-39C022CA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Student Engagement to Improve Retention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1B03-00B9-310C-1458-0241F2C57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Challenge:</a:t>
            </a:r>
          </a:p>
          <a:p>
            <a:pPr lvl="1"/>
            <a:r>
              <a:rPr lang="en-US" dirty="0"/>
              <a:t>Universities need to identify at-risk students early</a:t>
            </a:r>
          </a:p>
          <a:p>
            <a:pPr lvl="1"/>
            <a:r>
              <a:rPr lang="en-US" dirty="0"/>
              <a:t>Understanding app usage patterns can guide intervention strategies</a:t>
            </a:r>
          </a:p>
          <a:p>
            <a:r>
              <a:rPr lang="en-US" b="1" dirty="0"/>
              <a:t>Approach:</a:t>
            </a:r>
          </a:p>
          <a:p>
            <a:pPr lvl="1"/>
            <a:r>
              <a:rPr lang="en-US" dirty="0"/>
              <a:t>Analyzed 400 students across 9 features (6 app metrics + 3 academic indicators)</a:t>
            </a:r>
          </a:p>
          <a:p>
            <a:pPr lvl="1"/>
            <a:r>
              <a:rPr lang="en-US" dirty="0"/>
              <a:t>Two-part analysis:</a:t>
            </a:r>
          </a:p>
          <a:p>
            <a:pPr lvl="2"/>
            <a:r>
              <a:rPr lang="en-US" i="1" dirty="0"/>
              <a:t>Unsupervised Learning: </a:t>
            </a:r>
            <a:r>
              <a:rPr lang="en-US" dirty="0"/>
              <a:t>K-Means clustering to discover engagement patterns</a:t>
            </a:r>
          </a:p>
          <a:p>
            <a:pPr lvl="2"/>
            <a:r>
              <a:rPr lang="en-US" i="1" dirty="0"/>
              <a:t>Supervised Learning: </a:t>
            </a:r>
            <a:r>
              <a:rPr lang="en-US" dirty="0"/>
              <a:t>Predict dropout risk using ML models</a:t>
            </a:r>
          </a:p>
          <a:p>
            <a:r>
              <a:rPr lang="en-US" b="1" dirty="0"/>
              <a:t>Technologies:</a:t>
            </a:r>
          </a:p>
          <a:p>
            <a:pPr lvl="1"/>
            <a:r>
              <a:rPr lang="en-US" dirty="0"/>
              <a:t>Python, Scikit-learn, </a:t>
            </a:r>
            <a:r>
              <a:rPr lang="en-US" dirty="0" err="1"/>
              <a:t>XGBoost</a:t>
            </a:r>
            <a:r>
              <a:rPr lang="en-US" dirty="0"/>
              <a:t>, Pandas, Seaborn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0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6666CC-D8B1-D083-D157-8E852F6A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3029"/>
            <a:ext cx="7772400" cy="629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07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5B6D54-1CF3-AC97-8114-A0493BC7D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81564"/>
            <a:ext cx="7772400" cy="569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4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B8F8-742E-2CAE-B64B-DBEBA768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Distinct Student Segments Discovered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1BB7-24BE-88D4-F006-025FAB1AB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Methodology:</a:t>
            </a:r>
          </a:p>
          <a:p>
            <a:pPr lvl="1"/>
            <a:r>
              <a:rPr lang="en-US" dirty="0"/>
              <a:t>K-Means clustering with k=3 (validated via Elbow Method)</a:t>
            </a:r>
          </a:p>
          <a:p>
            <a:pPr lvl="1"/>
            <a:r>
              <a:rPr lang="en-US" dirty="0"/>
              <a:t>Features standardized using </a:t>
            </a:r>
            <a:r>
              <a:rPr lang="en-US" dirty="0" err="1"/>
              <a:t>StandardScaler</a:t>
            </a:r>
            <a:endParaRPr lang="en-US" dirty="0"/>
          </a:p>
          <a:p>
            <a:pPr lvl="1"/>
            <a:r>
              <a:rPr lang="en-US" dirty="0"/>
              <a:t>Silhouette Score: </a:t>
            </a:r>
            <a:r>
              <a:rPr lang="en-US" i="1" dirty="0"/>
              <a:t>0.52 </a:t>
            </a:r>
            <a:r>
              <a:rPr lang="en-US" dirty="0"/>
              <a:t>(good cluster separation)</a:t>
            </a:r>
          </a:p>
          <a:p>
            <a:r>
              <a:rPr lang="en-US" b="1" dirty="0"/>
              <a:t>Three Student Personas:</a:t>
            </a:r>
          </a:p>
          <a:p>
            <a:pPr lvl="1"/>
            <a:r>
              <a:rPr lang="en-US" i="1" dirty="0"/>
              <a:t>High Engagers (Cluster 0):</a:t>
            </a:r>
          </a:p>
          <a:p>
            <a:pPr lvl="2"/>
            <a:r>
              <a:rPr lang="en-US" dirty="0"/>
              <a:t>Frequent app users across all features</a:t>
            </a:r>
          </a:p>
          <a:p>
            <a:pPr lvl="2"/>
            <a:r>
              <a:rPr lang="en-US" dirty="0"/>
              <a:t>Strong academic performance</a:t>
            </a:r>
          </a:p>
          <a:p>
            <a:pPr lvl="2"/>
            <a:r>
              <a:rPr lang="en-US" dirty="0"/>
              <a:t>Low dropout risk</a:t>
            </a:r>
          </a:p>
          <a:p>
            <a:pPr lvl="1"/>
            <a:r>
              <a:rPr lang="en-US" i="1" dirty="0"/>
              <a:t>Moderate Engagers (Cluster 1):</a:t>
            </a:r>
          </a:p>
          <a:p>
            <a:pPr lvl="2"/>
            <a:r>
              <a:rPr lang="en-US" dirty="0"/>
              <a:t>Average app usage</a:t>
            </a:r>
          </a:p>
          <a:p>
            <a:pPr lvl="2"/>
            <a:r>
              <a:rPr lang="en-US" dirty="0"/>
              <a:t>Mixed academic outcomes</a:t>
            </a:r>
          </a:p>
          <a:p>
            <a:pPr lvl="2"/>
            <a:r>
              <a:rPr lang="en-US" dirty="0"/>
              <a:t>Moderate dropout risk</a:t>
            </a:r>
          </a:p>
          <a:p>
            <a:pPr lvl="1"/>
            <a:r>
              <a:rPr lang="en-US" i="1" dirty="0"/>
              <a:t>Low Engagers (Cluster 2):</a:t>
            </a:r>
          </a:p>
          <a:p>
            <a:pPr lvl="2"/>
            <a:r>
              <a:rPr lang="en-US" dirty="0"/>
              <a:t>Minimal app interaction</a:t>
            </a:r>
          </a:p>
          <a:p>
            <a:pPr lvl="2"/>
            <a:r>
              <a:rPr lang="en-US" dirty="0"/>
              <a:t>Weaker academic metrics</a:t>
            </a:r>
          </a:p>
          <a:p>
            <a:pPr lvl="2"/>
            <a:r>
              <a:rPr lang="en-US" dirty="0"/>
              <a:t>High dropout risk</a:t>
            </a:r>
          </a:p>
        </p:txBody>
      </p:sp>
    </p:spTree>
    <p:extLst>
      <p:ext uri="{BB962C8B-B14F-4D97-AF65-F5344CB8AC3E}">
        <p14:creationId xmlns:p14="http://schemas.microsoft.com/office/powerpoint/2010/main" val="285513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BCBD3E-D3BA-F420-8AA7-9F1878E29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90016"/>
            <a:ext cx="7772400" cy="567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49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EF85-6E8F-28B4-B15F-13CB0D25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Student At-Risk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41C6D-3AAE-1702-55FC-E02EAD69A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Following Criteria Must Be Met:</a:t>
            </a:r>
          </a:p>
          <a:p>
            <a:pPr lvl="1"/>
            <a:r>
              <a:rPr lang="en-US" dirty="0"/>
              <a:t>Low logins (&lt;6/week)</a:t>
            </a:r>
          </a:p>
          <a:p>
            <a:pPr lvl="1"/>
            <a:r>
              <a:rPr lang="en-US" dirty="0"/>
              <a:t>Poor attendance (&lt;75%)</a:t>
            </a:r>
          </a:p>
          <a:p>
            <a:pPr lvl="1"/>
            <a:r>
              <a:rPr lang="en-US" dirty="0"/>
              <a:t>Low submissions (&lt;60%)</a:t>
            </a:r>
          </a:p>
          <a:p>
            <a:pPr lvl="1"/>
            <a:r>
              <a:rPr lang="en-US" dirty="0"/>
              <a:t>Low GPA (&lt;2.2)</a:t>
            </a:r>
          </a:p>
          <a:p>
            <a:r>
              <a:rPr lang="en-US" b="1" dirty="0"/>
              <a:t>Models Tested:</a:t>
            </a:r>
          </a:p>
          <a:p>
            <a:pPr lvl="1"/>
            <a:r>
              <a:rPr lang="en-US" dirty="0"/>
              <a:t>Logistic Regression (baseline)</a:t>
            </a:r>
          </a:p>
          <a:p>
            <a:pPr lvl="1"/>
            <a:r>
              <a:rPr lang="en-US" dirty="0"/>
              <a:t>Random Forest (ensemble)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 (gradient boosting)</a:t>
            </a:r>
          </a:p>
        </p:txBody>
      </p:sp>
    </p:spTree>
    <p:extLst>
      <p:ext uri="{BB962C8B-B14F-4D97-AF65-F5344CB8AC3E}">
        <p14:creationId xmlns:p14="http://schemas.microsoft.com/office/powerpoint/2010/main" val="3753609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5F9BB9-778C-37E5-DA18-B3F53E6B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857250"/>
            <a:ext cx="7048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40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515A-5330-7E66-E4B0-47A70564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8830C-D70B-952A-90E9-8521A885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4677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232</Words>
  <Application>Microsoft Macintosh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Student Engagement Analysis and Retention Prediction Portfolio</vt:lpstr>
      <vt:lpstr>Analyzing Student Engagement to Improve Retention</vt:lpstr>
      <vt:lpstr>PowerPoint Presentation</vt:lpstr>
      <vt:lpstr>PowerPoint Presentation</vt:lpstr>
      <vt:lpstr>Three Distinct Student Segments Discovered</vt:lpstr>
      <vt:lpstr>PowerPoint Presentation</vt:lpstr>
      <vt:lpstr>Predicting Student At-Risk Status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C00290950) Ihor Melashchenko</dc:creator>
  <cp:lastModifiedBy>(Student  C00290950) Ihor Melashchenko</cp:lastModifiedBy>
  <cp:revision>1</cp:revision>
  <dcterms:created xsi:type="dcterms:W3CDTF">2025-12-02T10:48:05Z</dcterms:created>
  <dcterms:modified xsi:type="dcterms:W3CDTF">2025-12-02T11:05:05Z</dcterms:modified>
</cp:coreProperties>
</file>